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68F7E7-5A87-4176-A796-7B7CD049F664}">
  <a:tblStyle styleId="{4B68F7E7-5A87-4176-A796-7B7CD049F6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a5a5fd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a5a5fd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a5a5fd2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a5a5fd2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22d1fc57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22d1fc57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a5a5fd2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1a5a5fd2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22d1fc57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22d1fc57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22d1fc57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22d1fc57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aa166e0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1aa166e0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1aa166e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1aa166e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23ca65b35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23ca65b35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53ea3ec06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53ea3ec06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5752013a9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5752013a9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1aa166e0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1aa166e0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53ea3ec06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53ea3ec06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53ea3ec0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53ea3ec0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1aa166e0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1aa166e0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Sales Forcasting for a Bakery Branch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977" dirty="0"/>
              <a:t>Data Sciene &amp; Machine learning – 08.01.2026</a:t>
            </a:r>
            <a:endParaRPr sz="1977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de" sz="1750"/>
              <a:t>Team Goodweather </a:t>
            </a:r>
            <a:endParaRPr sz="17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de" sz="1750"/>
              <a:t>Adrian Metzgen, Thao P. Le, David Strifler, Iman Ghanad, Rakesh Kalamakuntla</a:t>
            </a:r>
            <a:endParaRPr sz="1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Outline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/>
              <a:t>Imputation of the values (d) 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/>
              <a:t>List and brief description of Self created variables (a)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/>
              <a:t>Bar charts with confidence intervals for two self-created variables (a)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/>
              <a:t>Linear model optimization (model equation and adjusted R2) (t)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/>
              <a:t>Type of missing value imputation (d)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/>
              <a:t>Neural network optimization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/>
              <a:t>Soruce code, defining the neural network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/>
              <a:t>Loss function plots for training and validation sets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/>
              <a:t>MAPE scores for overall validation set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/>
              <a:t>Worst Fail and Best Improvement (d)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In github: editing the ReadMEs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Self created variables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Hot encoded variables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Weekdays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Warengruppe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Perceived temperature: cold (&gt;-3°C) - normal (∓3°C) - warm (&gt;3°C), depending on monthly average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Niederschlag (dry or wet days)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Weathercode (10 different categories)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Rolling averages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Temperature (7d)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Niederschlag (7d)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Significance of Temperature categories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9075" y="1017725"/>
            <a:ext cx="6625825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Significance of Temperature categories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853" y="1096275"/>
            <a:ext cx="3958449" cy="265077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1700" y="1311975"/>
            <a:ext cx="4562100" cy="3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de" sz="1600">
                <a:solidFill>
                  <a:schemeClr val="dk2"/>
                </a:solidFill>
              </a:rPr>
              <a:t>✓ Warengruppe 2: Significant influence between cold vs. warm (p=0.0166)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de" sz="1600">
                <a:solidFill>
                  <a:schemeClr val="dk2"/>
                </a:solidFill>
              </a:rPr>
              <a:t>✓ Warengruppe 5: Significant differences between Cold vs Warm, Normal vs Warm (p=0.0115)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de" sz="1600">
                <a:solidFill>
                  <a:schemeClr val="dk2"/>
                </a:solidFill>
              </a:rPr>
              <a:t>✓ Warengruppe 6: Significant differences between Cold vs Normal (p=0.0241)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Significance of precipitation categories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700" y="1017725"/>
            <a:ext cx="6538276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Significance of precipitation categories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800" y="1192699"/>
            <a:ext cx="3774902" cy="252784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1311975"/>
            <a:ext cx="4562100" cy="3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de" sz="1600">
                <a:solidFill>
                  <a:schemeClr val="dk2"/>
                </a:solidFill>
              </a:rPr>
              <a:t>✓ Warengruppe 2: Niederschlag significantly influences Umsatz (p=0.0040)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de" sz="1600">
                <a:solidFill>
                  <a:schemeClr val="dk2"/>
                </a:solidFill>
              </a:rPr>
              <a:t>✓ Warengruppe 3: Niederschlag significantly influences Umsatz (p=0.0000)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Missing value imputation</a:t>
            </a:r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xfrm>
            <a:off x="311700" y="1139900"/>
            <a:ext cx="8520600" cy="37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131" name="Google Shape;131;p24"/>
          <p:cNvGraphicFramePr/>
          <p:nvPr/>
        </p:nvGraphicFramePr>
        <p:xfrm>
          <a:off x="851900" y="1300513"/>
          <a:ext cx="7239000" cy="2036805"/>
        </p:xfrm>
        <a:graphic>
          <a:graphicData uri="http://schemas.openxmlformats.org/drawingml/2006/table">
            <a:tbl>
              <a:tblPr>
                <a:noFill/>
                <a:tableStyleId>{4B68F7E7-5A87-4176-A796-7B7CD049F664}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800" b="1"/>
                        <a:t>Used Method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800" b="1"/>
                        <a:t>Parameters</a:t>
                      </a:r>
                      <a:endParaRPr sz="18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800"/>
                        <a:t>forward &amp; backward filling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800"/>
                        <a:t>Bewölkung, Windgeschwindigkeit, Niederschlag, Wettercode</a:t>
                      </a:r>
                      <a:endParaRPr sz="1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800"/>
                        <a:t>filling empty lines with 0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800"/>
                        <a:t>Kieler Woche</a:t>
                      </a:r>
                      <a:endParaRPr sz="1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2" name="Google Shape;132;p24"/>
          <p:cNvSpPr txBox="1"/>
          <p:nvPr/>
        </p:nvSpPr>
        <p:spPr>
          <a:xfrm>
            <a:off x="851900" y="3620075"/>
            <a:ext cx="7239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 Indicator columns were added respectively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4"/>
          <p:cNvSpPr/>
          <p:nvPr/>
        </p:nvSpPr>
        <p:spPr>
          <a:xfrm>
            <a:off x="1812433" y="3682042"/>
            <a:ext cx="449400" cy="40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de" sz="2500" dirty="0"/>
              <a:t>Linear Regression: Model Equation &amp; Optimization</a:t>
            </a:r>
            <a:endParaRPr sz="2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00" dirty="0"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Linear Model Equation: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>
                <a:solidFill>
                  <a:schemeClr val="dk1"/>
                </a:solidFill>
              </a:rPr>
              <a:t>Each coefficient βi = change in target for one-unit increase in feature xi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pic>
        <p:nvPicPr>
          <p:cNvPr id="100" name="Google Shape;100;p20" title="Screenshot 2026-01-06 1049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70875"/>
            <a:ext cx="3857274" cy="4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xfrm>
            <a:off x="4580025" y="1121776"/>
            <a:ext cx="4260300" cy="3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Optimization: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>
                <a:solidFill>
                  <a:schemeClr val="dk1"/>
                </a:solidFill>
              </a:rPr>
              <a:t>Least Squares Method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>
                <a:solidFill>
                  <a:schemeClr val="dk1"/>
                </a:solidFill>
              </a:rPr>
              <a:t>✓ Use feature scaling</a:t>
            </a:r>
            <a:br>
              <a:rPr lang="de" sz="1600">
                <a:solidFill>
                  <a:schemeClr val="dk1"/>
                </a:solidFill>
              </a:rPr>
            </a:br>
            <a:r>
              <a:rPr lang="de" sz="1600">
                <a:solidFill>
                  <a:schemeClr val="dk1"/>
                </a:solidFill>
              </a:rPr>
              <a:t> ✓ Apply regularization (L1/L2)</a:t>
            </a:r>
            <a:br>
              <a:rPr lang="de" sz="1600">
                <a:solidFill>
                  <a:schemeClr val="dk1"/>
                </a:solidFill>
              </a:rPr>
            </a:br>
            <a:r>
              <a:rPr lang="de" sz="1600">
                <a:solidFill>
                  <a:schemeClr val="dk1"/>
                </a:solidFill>
              </a:rPr>
              <a:t> ✓ Validate on separate set</a:t>
            </a:r>
            <a:br>
              <a:rPr lang="de" sz="1600">
                <a:solidFill>
                  <a:schemeClr val="dk1"/>
                </a:solidFill>
              </a:rPr>
            </a:br>
            <a:r>
              <a:rPr lang="de" sz="1600">
                <a:solidFill>
                  <a:schemeClr val="dk1"/>
                </a:solidFill>
              </a:rPr>
              <a:t> ✓ Monitor training &amp; validation metrics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pic>
        <p:nvPicPr>
          <p:cNvPr id="102" name="Google Shape;102;p20" title="Screenshot 2026-01-06 1037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525" y="1894124"/>
            <a:ext cx="4089225" cy="6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2500" dirty="0"/>
              <a:t>Linear Regression: Adjusted R-Squared (R</a:t>
            </a:r>
            <a:r>
              <a:rPr lang="de" sz="2500" baseline="30000" dirty="0"/>
              <a:t>2</a:t>
            </a:r>
            <a:r>
              <a:rPr lang="de" sz="2500" dirty="0"/>
              <a:t>-adj)</a:t>
            </a:r>
            <a:endParaRPr sz="2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00" dirty="0"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465225" y="1290650"/>
            <a:ext cx="4106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600" b="1">
                <a:solidFill>
                  <a:schemeClr val="dk1"/>
                </a:solidFill>
              </a:rPr>
              <a:t>Why Adjusted R</a:t>
            </a:r>
            <a:r>
              <a:rPr lang="de" sz="1600" b="1" baseline="30000">
                <a:solidFill>
                  <a:schemeClr val="dk1"/>
                </a:solidFill>
              </a:rPr>
              <a:t>2</a:t>
            </a:r>
            <a:r>
              <a:rPr lang="de" sz="1600" b="1">
                <a:solidFill>
                  <a:schemeClr val="dk1"/>
                </a:solidFill>
              </a:rPr>
              <a:t>: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>
                <a:solidFill>
                  <a:schemeClr val="dk1"/>
                </a:solidFill>
              </a:rPr>
              <a:t>• Penalizes model complexity</a:t>
            </a:r>
            <a:br>
              <a:rPr lang="de" sz="1600">
                <a:solidFill>
                  <a:schemeClr val="dk1"/>
                </a:solidFill>
              </a:rPr>
            </a:br>
            <a:r>
              <a:rPr lang="de" sz="1600">
                <a:solidFill>
                  <a:schemeClr val="dk1"/>
                </a:solidFill>
              </a:rPr>
              <a:t> • Only increases with meaningful features</a:t>
            </a:r>
            <a:br>
              <a:rPr lang="de" sz="1600">
                <a:solidFill>
                  <a:schemeClr val="dk1"/>
                </a:solidFill>
              </a:rPr>
            </a:br>
            <a:r>
              <a:rPr lang="de" sz="1600">
                <a:solidFill>
                  <a:schemeClr val="dk1"/>
                </a:solidFill>
              </a:rPr>
              <a:t> • Prevents overfitting</a:t>
            </a:r>
            <a:br>
              <a:rPr lang="de" sz="1600">
                <a:solidFill>
                  <a:schemeClr val="dk1"/>
                </a:solidFill>
              </a:rPr>
            </a:br>
            <a:r>
              <a:rPr lang="de" sz="1600">
                <a:solidFill>
                  <a:schemeClr val="dk1"/>
                </a:solidFill>
              </a:rPr>
              <a:t> • Fair for model comparison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pic>
        <p:nvPicPr>
          <p:cNvPr id="109" name="Google Shape;109;p21" title="Screenshot 2026-01-06 1033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2850" y="1276395"/>
            <a:ext cx="4218300" cy="98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4580025" y="1290650"/>
            <a:ext cx="4106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600" b="1">
                <a:solidFill>
                  <a:schemeClr val="dk1"/>
                </a:solidFill>
              </a:rPr>
              <a:t>R</a:t>
            </a:r>
            <a:r>
              <a:rPr lang="de" sz="1600" b="1" baseline="30000">
                <a:solidFill>
                  <a:schemeClr val="dk1"/>
                </a:solidFill>
              </a:rPr>
              <a:t>2</a:t>
            </a:r>
            <a:r>
              <a:rPr lang="de" sz="1600" b="1">
                <a:solidFill>
                  <a:schemeClr val="dk1"/>
                </a:solidFill>
              </a:rPr>
              <a:t> vs  R</a:t>
            </a:r>
            <a:r>
              <a:rPr lang="de" sz="1600" b="1" baseline="30000">
                <a:solidFill>
                  <a:schemeClr val="dk1"/>
                </a:solidFill>
              </a:rPr>
              <a:t>2</a:t>
            </a:r>
            <a:r>
              <a:rPr lang="de" sz="1600" b="1">
                <a:solidFill>
                  <a:schemeClr val="dk1"/>
                </a:solidFill>
              </a:rPr>
              <a:t>-adj: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❖"/>
            </a:pPr>
            <a:r>
              <a:rPr lang="de" sz="1600">
                <a:solidFill>
                  <a:schemeClr val="dk1"/>
                </a:solidFill>
              </a:rPr>
              <a:t>R</a:t>
            </a:r>
            <a:r>
              <a:rPr lang="de" sz="1600" baseline="30000">
                <a:solidFill>
                  <a:schemeClr val="dk1"/>
                </a:solidFill>
              </a:rPr>
              <a:t>2</a:t>
            </a:r>
            <a:r>
              <a:rPr lang="de" sz="1600">
                <a:solidFill>
                  <a:schemeClr val="dk1"/>
                </a:solidFill>
              </a:rPr>
              <a:t>: Always increases with more features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❖"/>
            </a:pPr>
            <a:r>
              <a:rPr lang="de" sz="1600">
                <a:solidFill>
                  <a:schemeClr val="dk1"/>
                </a:solidFill>
              </a:rPr>
              <a:t>R</a:t>
            </a:r>
            <a:r>
              <a:rPr lang="de" sz="1600" baseline="30000">
                <a:solidFill>
                  <a:schemeClr val="dk1"/>
                </a:solidFill>
              </a:rPr>
              <a:t>2</a:t>
            </a:r>
            <a:r>
              <a:rPr lang="de" sz="1600">
                <a:solidFill>
                  <a:schemeClr val="dk1"/>
                </a:solidFill>
              </a:rPr>
              <a:t>-adj: Accounts for feature count</a:t>
            </a:r>
            <a:br>
              <a:rPr lang="de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de" sz="1600">
                <a:solidFill>
                  <a:schemeClr val="dk1"/>
                </a:solidFill>
              </a:rPr>
              <a:t>Use Adjusted R</a:t>
            </a:r>
            <a:r>
              <a:rPr lang="de" sz="1600" baseline="30000">
                <a:solidFill>
                  <a:schemeClr val="dk1"/>
                </a:solidFill>
              </a:rPr>
              <a:t>2</a:t>
            </a:r>
            <a:r>
              <a:rPr lang="de" sz="1600">
                <a:solidFill>
                  <a:schemeClr val="dk1"/>
                </a:solidFill>
              </a:rPr>
              <a:t> for model selection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de" sz="2500" dirty="0"/>
              <a:t>Linear Regression: R</a:t>
            </a:r>
            <a:r>
              <a:rPr lang="de" sz="2500" baseline="30000" dirty="0"/>
              <a:t>2</a:t>
            </a:r>
            <a:r>
              <a:rPr lang="de" sz="2500" dirty="0"/>
              <a:t> Comparison</a:t>
            </a:r>
            <a:endParaRPr sz="25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endParaRPr sz="2500" baseline="30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00" dirty="0"/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540300" y="1152475"/>
            <a:ext cx="3102000" cy="25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 b="1">
                <a:solidFill>
                  <a:srgbClr val="667EEA"/>
                </a:solidFill>
              </a:rPr>
              <a:t>Before Imputation</a:t>
            </a:r>
            <a:endParaRPr sz="1400" b="1">
              <a:solidFill>
                <a:srgbClr val="667EE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>
              <a:solidFill>
                <a:srgbClr val="667EE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 b="1">
                <a:solidFill>
                  <a:schemeClr val="dk1"/>
                </a:solidFill>
              </a:rPr>
              <a:t>Training R²: 0.7224</a:t>
            </a:r>
            <a:br>
              <a:rPr lang="de" sz="1400" b="1">
                <a:solidFill>
                  <a:schemeClr val="dk1"/>
                </a:solidFill>
              </a:rPr>
            </a:br>
            <a:r>
              <a:rPr lang="de" sz="1400" b="1">
                <a:solidFill>
                  <a:schemeClr val="dk1"/>
                </a:solidFill>
              </a:rPr>
              <a:t> Validation R²: 0.7094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400" b="1">
                <a:solidFill>
                  <a:schemeClr val="dk1"/>
                </a:solidFill>
              </a:rPr>
              <a:t>Change in Training R²: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 b="1">
                <a:solidFill>
                  <a:srgbClr val="22B14C"/>
                </a:solidFill>
              </a:rPr>
              <a:t>+0.0011 (+0.15%)</a:t>
            </a:r>
            <a:endParaRPr sz="1400" b="1">
              <a:solidFill>
                <a:srgbClr val="22B14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>
              <a:solidFill>
                <a:srgbClr val="22B14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400" b="1">
                <a:solidFill>
                  <a:schemeClr val="dk1"/>
                </a:solidFill>
              </a:rPr>
              <a:t>Model Stability (Train-Val Gap):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400">
                <a:solidFill>
                  <a:schemeClr val="dk1"/>
                </a:solidFill>
              </a:rPr>
              <a:t>Before: 0.013 (1.3%)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400"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4725516" y="1106425"/>
            <a:ext cx="3489000" cy="27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 b="1">
                <a:solidFill>
                  <a:srgbClr val="764BA2"/>
                </a:solidFill>
              </a:rPr>
              <a:t>After Imputation</a:t>
            </a:r>
            <a:endParaRPr sz="1400" b="1">
              <a:solidFill>
                <a:srgbClr val="764BA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>
              <a:solidFill>
                <a:srgbClr val="764BA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400" b="1">
                <a:solidFill>
                  <a:schemeClr val="dk1"/>
                </a:solidFill>
              </a:rPr>
              <a:t>Training R²: 0.7235</a:t>
            </a:r>
            <a:br>
              <a:rPr lang="de" sz="1400" b="1">
                <a:solidFill>
                  <a:schemeClr val="dk1"/>
                </a:solidFill>
              </a:rPr>
            </a:br>
            <a:r>
              <a:rPr lang="de" sz="1400" b="1">
                <a:solidFill>
                  <a:schemeClr val="dk1"/>
                </a:solidFill>
              </a:rPr>
              <a:t> Validation R²: 0.7047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400" b="1">
                <a:solidFill>
                  <a:schemeClr val="dk1"/>
                </a:solidFill>
              </a:rPr>
              <a:t>Change in Validation R²: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400" b="1">
                <a:solidFill>
                  <a:srgbClr val="FF0000"/>
                </a:solidFill>
              </a:rPr>
              <a:t>-0.0047 (-0.66%)</a:t>
            </a:r>
            <a:endParaRPr sz="14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400">
                <a:solidFill>
                  <a:schemeClr val="dk1"/>
                </a:solidFill>
              </a:rPr>
              <a:t>After: 0.0188 (1.88%)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400"/>
          </a:p>
        </p:txBody>
      </p:sp>
      <p:pic>
        <p:nvPicPr>
          <p:cNvPr id="118" name="Google Shape;118;p22" title="Screenshot 2026-01-08 1537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550" y="3875925"/>
            <a:ext cx="3488900" cy="97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2500" dirty="0"/>
              <a:t>Linear Regression: Key Insights </a:t>
            </a:r>
            <a:endParaRPr sz="2500" dirty="0"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1253900"/>
            <a:ext cx="8520600" cy="388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 b="1">
                <a:solidFill>
                  <a:srgbClr val="667EEA"/>
                </a:solidFill>
              </a:rPr>
              <a:t>1. Minimal Impact on Model Performance</a:t>
            </a:r>
            <a:endParaRPr sz="1600" b="1">
              <a:solidFill>
                <a:srgbClr val="667EE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Changes in R² are &lt; 1%, indicating model robustness to imputation methods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 b="1">
                <a:solidFill>
                  <a:srgbClr val="22B14C"/>
                </a:solidFill>
              </a:rPr>
              <a:t>2. Training Performance Improved</a:t>
            </a:r>
            <a:endParaRPr sz="1600" b="1">
              <a:solidFill>
                <a:srgbClr val="22B14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Training R² increased slightly (+0.15%) → Better fit on training data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 b="1">
                <a:solidFill>
                  <a:srgbClr val="FF0000"/>
                </a:solidFill>
              </a:rPr>
              <a:t>3. Validation Performance Slightly Decreased</a:t>
            </a:r>
            <a:endParaRPr sz="16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Validation R² dropped (-0.66%) → Imputation may not match original patterns perfectly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 b="1">
                <a:solidFill>
                  <a:srgbClr val="764BA2"/>
                </a:solidFill>
              </a:rPr>
              <a:t>4. Model Generalization Still Strong</a:t>
            </a:r>
            <a:endParaRPr sz="1600" b="1">
              <a:solidFill>
                <a:srgbClr val="764BA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>
                <a:solidFill>
                  <a:schemeClr val="dk1"/>
                </a:solidFill>
              </a:rPr>
              <a:t>Train-Val gap &lt; 2% → Model generalizes well to unseen data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248825" y="130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Neural Net Optimization (Tuning parameters)</a:t>
            </a:r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3237600" y="703325"/>
            <a:ext cx="2668800" cy="42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Version 2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de"/>
              <a:t>LR: 0,0005; Epochs: 50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4 layers, 128 neurons on the first layer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MAPE Score: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→Train. data: 21,05 %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→Val. data: 26,89 %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Kaggle Score: 0,21157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0" name="Google Shape;140;p25" title="Bildschirmfoto 2026-01-07 um 17.21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7599" y="1225000"/>
            <a:ext cx="2668800" cy="110804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198450" y="767125"/>
            <a:ext cx="2668800" cy="42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Version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LR: 0,001; Epochs: 20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2 layers, 10 neurons on the first layer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MAPE Score: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→Train. data: 29,06 %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→Val. data: 30,05 %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Kaggle Score: 0,25227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2" name="Google Shape;142;p25" title="Bildschirmfoto 2026-01-07 um 17.46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50" y="1225000"/>
            <a:ext cx="2901349" cy="106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>
            <a:off x="6100625" y="767125"/>
            <a:ext cx="2810400" cy="42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Version 3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LR: 0,001 to 0,0001; Epochs: 83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4 layers + dropout functions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MAPE Score: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→Train. data: 20,95 %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→Val. data: 22,11 %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Kaggle Score: 0,20255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3500" y="1225002"/>
            <a:ext cx="2668800" cy="887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248825" y="130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Neural Net Optimization (Tuning parameters)</a:t>
            </a:r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body" idx="1"/>
          </p:nvPr>
        </p:nvSpPr>
        <p:spPr>
          <a:xfrm>
            <a:off x="3237600" y="703325"/>
            <a:ext cx="2668800" cy="42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Version 2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LR: 0,0005; Epochs: 50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4 layers, 128 neurons on the first layer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MAPE Score: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→Train. data: 21,05 %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→Val. data: 26,89 %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Kaggle Score: 0,21157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1" name="Google Shape;151;p26" title="Bildschirmfoto 2026-01-07 um 17.21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7599" y="1225000"/>
            <a:ext cx="2668800" cy="110804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 txBox="1">
            <a:spLocks noGrp="1"/>
          </p:cNvSpPr>
          <p:nvPr>
            <p:ph type="body" idx="1"/>
          </p:nvPr>
        </p:nvSpPr>
        <p:spPr>
          <a:xfrm>
            <a:off x="198450" y="767125"/>
            <a:ext cx="2668800" cy="42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Version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LR: 0,001; Epochs: 20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2 layers, 10 neurons on the first layer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MAPE Score: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→Train. data: 29,06 %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→Val. data: 30,05 %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Kaggle Score: 0,25227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3" name="Google Shape;153;p26" title="Bildschirmfoto 2026-01-07 um 17.46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50" y="1225000"/>
            <a:ext cx="2901349" cy="106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>
            <a:spLocks noGrp="1"/>
          </p:cNvSpPr>
          <p:nvPr>
            <p:ph type="body" idx="1"/>
          </p:nvPr>
        </p:nvSpPr>
        <p:spPr>
          <a:xfrm>
            <a:off x="6100625" y="767125"/>
            <a:ext cx="2810400" cy="42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Version 3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LR: 0,001 to 0,0001; Epochs: 83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4 layers + dropout functions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MAPE Score: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→Train. data: 20,95 %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→Val. data: 22,11 %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Kaggle Score: 0,20255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3500" y="1225002"/>
            <a:ext cx="2668800" cy="88717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/>
          <p:nvPr/>
        </p:nvSpPr>
        <p:spPr>
          <a:xfrm>
            <a:off x="7440600" y="4454400"/>
            <a:ext cx="289500" cy="4194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FF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Loss Functions</a:t>
            </a:r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body" idx="1"/>
          </p:nvPr>
        </p:nvSpPr>
        <p:spPr>
          <a:xfrm>
            <a:off x="311700" y="1152575"/>
            <a:ext cx="4260300" cy="4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de"/>
              <a:t>Version 1</a:t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5675"/>
            <a:ext cx="4324525" cy="23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>
            <a:spLocks noGrp="1"/>
          </p:cNvSpPr>
          <p:nvPr>
            <p:ph type="body" idx="1"/>
          </p:nvPr>
        </p:nvSpPr>
        <p:spPr>
          <a:xfrm>
            <a:off x="4677000" y="1152575"/>
            <a:ext cx="4260300" cy="4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de"/>
              <a:t>Version 3</a:t>
            </a:r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7000" y="1582463"/>
            <a:ext cx="4260299" cy="227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Worst fail and best improvement</a:t>
            </a: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25" y="1424853"/>
            <a:ext cx="3686474" cy="201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 txBox="1"/>
          <p:nvPr/>
        </p:nvSpPr>
        <p:spPr>
          <a:xfrm>
            <a:off x="5022575" y="1087175"/>
            <a:ext cx="3537000" cy="17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>
                <a:solidFill>
                  <a:schemeClr val="dk2"/>
                </a:solidFill>
              </a:rPr>
              <a:t>We started with very different levels of knowledge 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>
                <a:solidFill>
                  <a:schemeClr val="dk2"/>
                </a:solidFill>
              </a:rPr>
              <a:t>(Git, Programming, AI)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>
                <a:solidFill>
                  <a:schemeClr val="dk2"/>
                </a:solidFill>
              </a:rPr>
              <a:t>But: 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step by step we all understood github and improved coordination and communication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841725" y="4041200"/>
            <a:ext cx="7034400" cy="17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de" sz="1800" b="1">
                <a:solidFill>
                  <a:srgbClr val="38761D"/>
                </a:solidFill>
              </a:rPr>
              <a:t>Best improvement:</a:t>
            </a:r>
            <a:r>
              <a:rPr lang="de" sz="1800">
                <a:solidFill>
                  <a:schemeClr val="dk2"/>
                </a:solidFill>
              </a:rPr>
              <a:t> Pathetic but true - working as a team :)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</Words>
  <Application>Microsoft Office PowerPoint</Application>
  <PresentationFormat>Bildschirmpräsentation (16:9)</PresentationFormat>
  <Paragraphs>191</Paragraphs>
  <Slides>16</Slides>
  <Notes>16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18" baseType="lpstr">
      <vt:lpstr>Arial</vt:lpstr>
      <vt:lpstr>Simple Light</vt:lpstr>
      <vt:lpstr>Sales Forcasting for a Bakery Branch Data Sciene &amp; Machine learning – 08.01.2026</vt:lpstr>
      <vt:lpstr>Outline</vt:lpstr>
      <vt:lpstr>Self created variables</vt:lpstr>
      <vt:lpstr>Significance of Temperature categories</vt:lpstr>
      <vt:lpstr>Significance of Temperature categories</vt:lpstr>
      <vt:lpstr>Significance of precipitation categories</vt:lpstr>
      <vt:lpstr>Significance of precipitation categories</vt:lpstr>
      <vt:lpstr>Missing value imputation</vt:lpstr>
      <vt:lpstr>Linear Regression: Model Equation &amp; Optimization </vt:lpstr>
      <vt:lpstr>Linear Regression: Adjusted R-Squared (R2-adj) </vt:lpstr>
      <vt:lpstr>Linear Regression: R2 Comparison  </vt:lpstr>
      <vt:lpstr>Linear Regression: Key Insights </vt:lpstr>
      <vt:lpstr>Neural Net Optimization (Tuning parameters)</vt:lpstr>
      <vt:lpstr>Neural Net Optimization (Tuning parameters)</vt:lpstr>
      <vt:lpstr>Loss Functions</vt:lpstr>
      <vt:lpstr>Worst fail and best improvement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Adrian Metzgen</cp:lastModifiedBy>
  <cp:revision>2</cp:revision>
  <dcterms:modified xsi:type="dcterms:W3CDTF">2026-01-08T15:17:31Z</dcterms:modified>
</cp:coreProperties>
</file>